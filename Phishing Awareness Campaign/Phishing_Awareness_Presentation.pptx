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9144000" cy="5143500" type="screen16x9"/>
  <p:notesSz cx="6858000" cy="9144000"/>
  <p:embeddedFontLst>
    <p:embeddedFont>
      <p:font typeface="Lato" panose="020B0604020202020204" charset="0"/>
      <p:regular r:id="rId8"/>
      <p:bold r:id="rId9"/>
      <p:italic r:id="rId10"/>
      <p:boldItalic r:id="rId11"/>
    </p:embeddedFont>
    <p:embeddedFont>
      <p:font typeface="Raleway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231f45f93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231f45f93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231f45f9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231f45f9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231f45f9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231f45f93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17026" y="1174536"/>
            <a:ext cx="8032200" cy="16896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33" dirty="0"/>
              <a:t>Guarding against deception: Building Phishing Awareness</a:t>
            </a:r>
            <a:br>
              <a:rPr lang="en-US" sz="2933" dirty="0"/>
            </a:br>
            <a:br>
              <a:rPr lang="en-US" sz="2933" dirty="0"/>
            </a:br>
            <a:r>
              <a:rPr lang="en-US" sz="1800" dirty="0"/>
              <a:t>HR &amp; Marketing Department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phishing?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/>
              <a:t>Phishing is a type of cyber attack where scammers impersonate trustworthy entities to trick individuals into revealing sensitive information or clicking on malicious links, often resulting in identity theft or financial loss.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Check sender's email address</a:t>
            </a:r>
            <a:r>
              <a:rPr lang="en-US" sz="2000" b="0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: Verify the sender's email domain for authenticity and watch out for misspellings or inconsistencies.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b="0" i="0" dirty="0">
              <a:solidFill>
                <a:schemeClr val="tx2">
                  <a:lumMod val="10000"/>
                </a:schemeClr>
              </a:solidFill>
              <a:effectLst/>
              <a:latin typeface="Söhne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Hover over links</a:t>
            </a:r>
            <a:r>
              <a:rPr lang="en-US" sz="2000" b="0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: Hover over links before clicking to reveal the actual URL; if it looks suspicious or doesn't match the sender, avoid clicking.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b="0" i="0" dirty="0">
              <a:solidFill>
                <a:schemeClr val="tx2">
                  <a:lumMod val="10000"/>
                </a:schemeClr>
              </a:solidFill>
              <a:effectLst/>
              <a:latin typeface="Söhne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Look for generic greetings or urgent requests</a:t>
            </a:r>
            <a:r>
              <a:rPr lang="en-US" sz="2000" b="0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: Be wary of emails addressing you as "Dear Customer" or creating a sense of urgency, such as demanding immediate action.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b="0" i="0" dirty="0">
              <a:solidFill>
                <a:schemeClr val="tx2">
                  <a:lumMod val="10000"/>
                </a:schemeClr>
              </a:solidFill>
              <a:effectLst/>
              <a:latin typeface="Söhne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Check for spelling and grammar errors</a:t>
            </a:r>
            <a:r>
              <a:rPr lang="en-US" sz="2000" b="0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: Phishing emails often contain noticeable mistakes in spelling, grammar, or awkward language usage, which legitimate organizations typically avoid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to spot phishing emails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B4D4D3-F417-432E-9F1C-91E2B0723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92" y="1314365"/>
            <a:ext cx="6952129" cy="3468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104B6E-880B-4838-98FE-06E6E47481B1}"/>
              </a:ext>
            </a:extLst>
          </p:cNvPr>
          <p:cNvSpPr txBox="1"/>
          <p:nvPr/>
        </p:nvSpPr>
        <p:spPr>
          <a:xfrm>
            <a:off x="739586" y="1264023"/>
            <a:ext cx="3489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23827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stop getting phished?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>
              <a:buFont typeface="Wingdings" panose="05000000000000000000" pitchFamily="2" charset="2"/>
              <a:buChar char="q"/>
            </a:pPr>
            <a:r>
              <a:rPr lang="en-US" sz="1400" b="1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Awareness</a:t>
            </a:r>
            <a:r>
              <a:rPr lang="en-US" sz="1400" b="0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: Be alert and recognize phishing signs.</a:t>
            </a:r>
          </a:p>
          <a:p>
            <a:pPr algn="l">
              <a:buFont typeface="Wingdings" panose="05000000000000000000" pitchFamily="2" charset="2"/>
              <a:buChar char="q"/>
            </a:pPr>
            <a:endParaRPr lang="en-US" sz="1400" b="0" i="0" dirty="0">
              <a:solidFill>
                <a:schemeClr val="tx2">
                  <a:lumMod val="10000"/>
                </a:schemeClr>
              </a:solidFill>
              <a:effectLst/>
              <a:latin typeface="Söhne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400" b="1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Verification Practices</a:t>
            </a:r>
            <a:r>
              <a:rPr lang="en-US" sz="1400" b="0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: Double-check sender addresses and URLs.</a:t>
            </a:r>
          </a:p>
          <a:p>
            <a:pPr algn="l">
              <a:buFont typeface="Wingdings" panose="05000000000000000000" pitchFamily="2" charset="2"/>
              <a:buChar char="q"/>
            </a:pPr>
            <a:endParaRPr lang="en-US" sz="1400" b="0" i="0" dirty="0">
              <a:solidFill>
                <a:schemeClr val="tx2">
                  <a:lumMod val="10000"/>
                </a:schemeClr>
              </a:solidFill>
              <a:effectLst/>
              <a:latin typeface="Söhne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400" b="1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Security Measures</a:t>
            </a:r>
            <a:r>
              <a:rPr lang="en-US" sz="1400" b="0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: Use email filters and enable 2FA.</a:t>
            </a:r>
          </a:p>
          <a:p>
            <a:pPr algn="l">
              <a:buFont typeface="Wingdings" panose="05000000000000000000" pitchFamily="2" charset="2"/>
              <a:buChar char="q"/>
            </a:pPr>
            <a:endParaRPr lang="en-US" sz="1400" b="0" i="0" dirty="0">
              <a:solidFill>
                <a:schemeClr val="tx2">
                  <a:lumMod val="10000"/>
                </a:schemeClr>
              </a:solidFill>
              <a:effectLst/>
              <a:latin typeface="Söhne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400" b="1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Reporting Procedures</a:t>
            </a:r>
            <a:r>
              <a:rPr lang="en-US" sz="1400" b="0" i="0" dirty="0">
                <a:solidFill>
                  <a:schemeClr val="tx2">
                    <a:lumMod val="10000"/>
                  </a:schemeClr>
                </a:solidFill>
                <a:effectLst/>
                <a:latin typeface="Söhne"/>
              </a:rPr>
              <a:t>: Establish clear protocols for reporting suspicious emails.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213</Words>
  <Application>Microsoft Office PowerPoint</Application>
  <PresentationFormat>On-screen Show (16:9)</PresentationFormat>
  <Paragraphs>20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Lato</vt:lpstr>
      <vt:lpstr>Wingdings</vt:lpstr>
      <vt:lpstr>Raleway</vt:lpstr>
      <vt:lpstr>Söhne</vt:lpstr>
      <vt:lpstr>Arial</vt:lpstr>
      <vt:lpstr>Streamline</vt:lpstr>
      <vt:lpstr>Guarding against deception: Building Phishing Awareness  HR &amp; Marketing Department </vt:lpstr>
      <vt:lpstr>What is phishing?</vt:lpstr>
      <vt:lpstr>Learn to spot phishing emails</vt:lpstr>
      <vt:lpstr>PowerPoint Presentation</vt:lpstr>
      <vt:lpstr>How do we stop getting phished?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Guarding against deception:  Building Phishing Awareness</dc:title>
  <dc:creator>Sohmm</dc:creator>
  <cp:lastModifiedBy>soham helekar</cp:lastModifiedBy>
  <cp:revision>4</cp:revision>
  <dcterms:modified xsi:type="dcterms:W3CDTF">2024-05-12T13:15:32Z</dcterms:modified>
</cp:coreProperties>
</file>